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B8C9E5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pic>
        <p:nvPicPr>
          <p:cNvPr id="4" name="Picture 3" descr="cover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8229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7AA4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6400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金融行业自主私域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App 产品方案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73552"/>
            <a:ext cx="67665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2E1F7"/>
                </a:solidFill>
                <a:latin typeface="Arial Unicode MS"/>
                <a:ea typeface="Arial Unicode MS"/>
                <a:cs typeface="Arial Unicode MS"/>
              </a:rPr>
              <a:t>面向金融客户的内容服务、私域运营与品牌化阵地建设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0749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D2E1F7"/>
                </a:solidFill>
                <a:latin typeface="Arial Unicode MS"/>
                <a:ea typeface="Arial Unicode MS"/>
                <a:cs typeface="Arial Unicode MS"/>
              </a:rPr>
              <a:t>圈子运营  ·  消息触达  ·  投教学习  ·  直播服务  ·  会员承接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0807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B0C6E3"/>
                </a:solidFill>
                <a:latin typeface="Arial Unicode MS"/>
                <a:ea typeface="Arial Unicode MS"/>
                <a:cs typeface="Arial Unicode MS"/>
              </a:rPr>
              <a:t>产品方案稿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D2E2FA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金融客户当前的增长，仍高度依赖外部平台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32588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平台带来流量、内容分发和交易入口，但用户关系并不天然归客户所有。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23317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2331720" cy="109728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395728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获客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614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短视频 / 直播 / 搜索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148840"/>
            <a:ext cx="23317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66160" y="2148840"/>
            <a:ext cx="2331720" cy="109728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395728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分发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7614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内容推荐与平台流量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2148840"/>
            <a:ext cx="23317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79" y="2148840"/>
            <a:ext cx="2331720" cy="109728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1" y="2395728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转化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1" y="27614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课程 / 会员 / 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3999" y="2148840"/>
            <a:ext cx="2331720" cy="1097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3999" y="2148840"/>
            <a:ext cx="2331720" cy="109728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1" y="2395728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关系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1" y="27614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群聊 / 私聊 / 关注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6908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C53AE"/>
                </a:solidFill>
                <a:latin typeface="Arial Unicode MS"/>
                <a:ea typeface="Arial Unicode MS"/>
                <a:cs typeface="Arial Unicode MS"/>
              </a:rPr>
              <a:t>平台可以带来用户，但客户需要自己的用户经营阵地。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83480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核心问题不是有没有流量，而是用户关系能否持续沉淀。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平台限制带来的经营风险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288036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触达风险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2140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群发、私聊、外链和营销内容存在规则约束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600200"/>
            <a:ext cx="288036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内容风险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2140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金融直播、投顾和收益相关内容审核更严格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08960"/>
            <a:ext cx="288036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9184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关系风险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63016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用户标签、圈子互动和客户归属难以统一沉淀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108960"/>
            <a:ext cx="2880360" cy="10789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329184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连续性风险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63016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账号、店铺或直播间异常会导致用户失联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1600200"/>
            <a:ext cx="3017520" cy="4069080"/>
          </a:xfrm>
          <a:prstGeom prst="roundRect">
            <a:avLst/>
          </a:prstGeom>
          <a:solidFill>
            <a:srgbClr val="07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9659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平台规则变化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6060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D7AA4B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0632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运营动作受限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7033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D7AA4B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16052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用户关系不稳定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53AE"/>
                </a:solidFill>
                <a:latin typeface="Arial Unicode MS"/>
                <a:ea typeface="Arial Unicode MS"/>
                <a:cs typeface="Arial Unicode MS"/>
              </a:rPr>
              <a:t>风险不是没有流量，而是流量无法沉淀。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平台限制如何影响用户、内容和收入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315468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3154680" cy="109728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202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377440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找不到、触达不到、无法持续学习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600200"/>
            <a:ext cx="315468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59" y="1600200"/>
            <a:ext cx="3154680" cy="109728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19202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377440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直播回放、课程资料和观点难沉淀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600200"/>
            <a:ext cx="3154680" cy="15087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79" y="1600200"/>
            <a:ext cx="3154680" cy="109728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2024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收入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77440"/>
            <a:ext cx="2606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转化链路中断，复购和召回成本上升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86200"/>
            <a:ext cx="66751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经营结果：获客依赖平台，服务却无法持续跟进。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006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平台分发效率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773168"/>
            <a:ext cx="2651760" cy="292608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4800600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自有沉淀能力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773168"/>
            <a:ext cx="1005840" cy="292608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53AE"/>
                </a:solidFill>
                <a:latin typeface="Arial Unicode MS"/>
                <a:ea typeface="Arial Unicode MS"/>
                <a:cs typeface="Arial Unicode MS"/>
              </a:rPr>
              <a:t>需要补上“关系经营”这一层。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为什么需要建设自主 App 阵地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pic>
        <p:nvPicPr>
          <p:cNvPr id="8" name="Picture 7" descr="02-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08760"/>
            <a:ext cx="2148840" cy="44975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977639" y="1362456"/>
            <a:ext cx="64008" cy="64008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325880"/>
            <a:ext cx="69494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稳定触达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581912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Push、站内消息和消息中心形成自有触达链路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414015"/>
            <a:ext cx="64008" cy="64008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377439"/>
            <a:ext cx="69494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关系沉淀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633472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圈子、评论、问答和学习记录成为长期资产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3465576"/>
            <a:ext cx="64008" cy="64008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3429000"/>
            <a:ext cx="69494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服务承载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685032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课程、直播、投研、会员和订单统一进入品牌阵地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7639" y="4517136"/>
            <a:ext cx="64008" cy="64008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4480559"/>
            <a:ext cx="69494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合规可控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736592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品牌、内容、权限和风险提示由客户统一管理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5596128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自有 App 不是替代平台，而是承接核心用户与核心服务。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金融行业竞品 App 的产品路线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竞品普遍从“内容获客”走向“工具 + 服务 + 社群”的复合经营。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4892040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137160" cy="1115568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39112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投教内容型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03911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C53AE"/>
                </a:solidFill>
                <a:latin typeface="Arial Unicode MS"/>
                <a:ea typeface="Arial Unicode MS"/>
                <a:cs typeface="Arial Unicode MS"/>
              </a:rPr>
              <a:t>客户类型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41448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课程体系 + 行情 + 社群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874519"/>
            <a:ext cx="4892040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59" y="1874519"/>
            <a:ext cx="137160" cy="1115568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2039112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投顾服务型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03911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7AA4B"/>
                </a:solidFill>
                <a:latin typeface="Arial Unicode MS"/>
                <a:ea typeface="Arial Unicode MS"/>
                <a:cs typeface="Arial Unicode MS"/>
              </a:rPr>
              <a:t>客户类型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2441448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直播 + 指标 + 会员服务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383279"/>
            <a:ext cx="4892040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3383279"/>
            <a:ext cx="137160" cy="1115568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547872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数据工具型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54787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6977D"/>
                </a:solidFill>
                <a:latin typeface="Arial Unicode MS"/>
                <a:ea typeface="Arial Unicode MS"/>
                <a:cs typeface="Arial Unicode MS"/>
              </a:rPr>
              <a:t>客户类型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950207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行情 + 选股 + 决策工具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383279"/>
            <a:ext cx="4892040" cy="11155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59" y="3383279"/>
            <a:ext cx="137160" cy="1115568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79" y="3547872"/>
            <a:ext cx="1325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AI / 社区型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3547872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E4E5B"/>
                </a:solidFill>
                <a:latin typeface="Arial Unicode MS"/>
                <a:ea typeface="Arial Unicode MS"/>
                <a:cs typeface="Arial Unicode MS"/>
              </a:rPr>
              <a:t>客户类型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79" y="3950207"/>
            <a:ext cx="4206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AI 助手 + 讲师社区 + 订阅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9418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53AE"/>
                </a:solidFill>
                <a:latin typeface="Arial Unicode MS"/>
                <a:ea typeface="Arial Unicode MS"/>
                <a:cs typeface="Arial Unicode MS"/>
              </a:rPr>
              <a:t>共同趋势：内容是入口，圈子和消息是留存，会员与工具是服务承接。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自有 App 的整体产品架构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589788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1719072"/>
            <a:ext cx="109728" cy="356616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75564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内容层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55648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课程 · 直播 · 资讯 · 研报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41448"/>
            <a:ext cx="589788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" y="2560320"/>
            <a:ext cx="109728" cy="356616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596896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互动层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596896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圈子 · 话题 · 评论 · 问答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282696"/>
            <a:ext cx="589788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3401568"/>
            <a:ext cx="109728" cy="356616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3438144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服务层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438144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行情 · 投顾 · 会员 · 订单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23944"/>
            <a:ext cx="5897880" cy="5943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" y="4242816"/>
            <a:ext cx="109728" cy="356616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427939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运营层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279392"/>
            <a:ext cx="3474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Push · IM · 标签 · 召回 · 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78308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用户进入 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286000"/>
            <a:ext cx="2651760" cy="566928"/>
          </a:xfrm>
          <a:prstGeom prst="roundRect">
            <a:avLst/>
          </a:prstGeom>
          <a:solidFill>
            <a:srgbClr val="07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245973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内容吸引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108960"/>
            <a:ext cx="2651760" cy="566928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2826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圈子建立关系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63840" y="3931920"/>
            <a:ext cx="2651760" cy="566928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410565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消息持续触达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63840" y="4754880"/>
            <a:ext cx="2651760" cy="566928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492861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会员与服务转化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3212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53AE"/>
                </a:solidFill>
                <a:latin typeface="Arial Unicode MS"/>
                <a:ea typeface="Arial Unicode MS"/>
                <a:cs typeface="Arial Unicode MS"/>
              </a:rPr>
              <a:t>平台负责分发，自有 App 负责经营闭环。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圈子：金融私域的核心承载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pic>
        <p:nvPicPr>
          <p:cNvPr id="8" name="Picture 7" descr="05-cir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17320"/>
            <a:ext cx="2057400" cy="4306186"/>
          </a:xfrm>
          <a:prstGeom prst="rect">
            <a:avLst/>
          </a:prstGeom>
        </p:spPr>
      </p:pic>
      <p:pic>
        <p:nvPicPr>
          <p:cNvPr id="9" name="Picture 8" descr="06-circle-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1417320"/>
            <a:ext cx="2057400" cy="43061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137160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圈子不是简单群聊，而是结构化、可持续运营的内容社区。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02536"/>
            <a:ext cx="64008" cy="64008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6634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分层运营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21991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官方圈子、课程圈子、讲师圈子、VIP 圈子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843784"/>
            <a:ext cx="64008" cy="64008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807208"/>
            <a:ext cx="46634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内容沉淀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63239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动态、回放、研报、问答和精选内容长期留存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685032"/>
            <a:ext cx="64008" cy="64008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648456"/>
            <a:ext cx="46634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关系经营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0448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圈主置顶、评论互动、IM 群聊与成员活跃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526280"/>
            <a:ext cx="64008" cy="64008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489704"/>
            <a:ext cx="466344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服务连接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4573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课程、直播、会员、顾问单聊和人工转接都能回流到圈子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圈子内的内容与用户互动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48006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536192"/>
            <a:ext cx="512064" cy="5120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54480" y="16002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内容发布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8424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观点、盘前策略、课程笔记、直播回放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48006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inter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655" y="1536192"/>
            <a:ext cx="512064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79" y="16002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互动反馈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79" y="198424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评论回复、IM 群聊、顾问单聊与人工转接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71800"/>
            <a:ext cx="48006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top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090672"/>
            <a:ext cx="512064" cy="5120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54480" y="3154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主题运营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53872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话题、活动、打卡、问答和精选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971800"/>
            <a:ext cx="48006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conver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655" y="3090672"/>
            <a:ext cx="512064" cy="5120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40879" y="31546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关系转化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353872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圈友 → 学习用户 → 会员 / 投顾服务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C53AE"/>
                </a:solidFill>
                <a:latin typeface="Arial Unicode MS"/>
                <a:ea typeface="Arial Unicode MS"/>
                <a:cs typeface="Arial Unicode MS"/>
              </a:rPr>
              <a:t>圈子运营的目标：让用户有内容可看、有关系可互动、有服务可继续。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516636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示意页面：圈子详情承载内容、成员关系与服务入口。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消息推送：持续触达用户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pic>
        <p:nvPicPr>
          <p:cNvPr id="8" name="Picture 7" descr="07-mess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417320"/>
            <a:ext cx="2103120" cy="44018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6200" y="132588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四类消息，覆盖用户从进入到复购的生命周期。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993392"/>
            <a:ext cx="66751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69080" y="2148840"/>
            <a:ext cx="256032" cy="256032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39696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直播提醒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39696"/>
            <a:ext cx="4160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预约、开播、回放更新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2816352"/>
            <a:ext cx="66751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69080" y="2971800"/>
            <a:ext cx="256032" cy="256032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2962656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圈子动态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962656"/>
            <a:ext cx="4160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新观点、被回复、精选内容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3639312"/>
            <a:ext cx="66751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69080" y="3794760"/>
            <a:ext cx="256032" cy="256032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785616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课程服务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785616"/>
            <a:ext cx="4160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新课、续学、资料和学习进度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4462272"/>
            <a:ext cx="667512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69080" y="4617720"/>
            <a:ext cx="256032" cy="256032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608576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运营召回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08576"/>
            <a:ext cx="4160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沉默唤醒、会员到期、活动通知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5577840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53AE"/>
                </a:solidFill>
                <a:latin typeface="Arial Unicode MS"/>
                <a:ea typeface="Arial Unicode MS"/>
                <a:cs typeface="Arial Unicode MS"/>
              </a:rPr>
              <a:t>平台触达不稳定 → 自有 App 通过 Push + 站内消息 + IM + 用户标签建立可控链路。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IM：把一次触达，延伸为持续服务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61872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金融场景常见的 IM 不是单独聊天工具，而是连接客户、讲师、顾问和服务团队的业务入口。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10512"/>
            <a:ext cx="3063240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810512"/>
            <a:ext cx="3063240" cy="109728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66543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客户与顾问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432304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一对一咨询、服务分流、会话留痕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10512"/>
            <a:ext cx="3063240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810512"/>
            <a:ext cx="3063240" cy="109728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066543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圈子与群聊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32304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课程群、会员群、直播讨论和主题群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810512"/>
            <a:ext cx="3063240" cy="100584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1810512"/>
            <a:ext cx="3063240" cy="109728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066543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内容服务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2432304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资料发送、回放提醒、问答与人工转接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101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可选供应商（示意）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703320"/>
            <a:ext cx="1056132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3776472"/>
            <a:ext cx="109728" cy="182880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61872" y="3776472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腾讯云 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776472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国内生态与账号体系衔接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776472"/>
            <a:ext cx="4297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社交关系、群聊、消息能力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142231"/>
            <a:ext cx="1056132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" y="4215383"/>
            <a:ext cx="109728" cy="182880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61872" y="4215383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网易云信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4215383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音视频与 IM 组合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215383"/>
            <a:ext cx="4297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直播互动、群聊、内容服务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581144"/>
            <a:ext cx="1056132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0120" y="4654296"/>
            <a:ext cx="109728" cy="182880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61872" y="4654296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融云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4654296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IM 能力组件化接入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4654296"/>
            <a:ext cx="4297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单聊、群聊、客服与会话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020056"/>
            <a:ext cx="1056132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60120" y="5093208"/>
            <a:ext cx="109728" cy="182880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61872" y="509320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环信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5093208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客服与运营场景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5093208"/>
            <a:ext cx="4297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客户咨询、工单与消息触达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5458968"/>
            <a:ext cx="10561320" cy="329184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0120" y="5532120"/>
            <a:ext cx="109728" cy="182880"/>
          </a:xfrm>
          <a:prstGeom prst="roundRect">
            <a:avLst/>
          </a:prstGeom>
          <a:solidFill>
            <a:srgbClr val="7B9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61872" y="5532120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声网 Chat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5532120"/>
            <a:ext cx="265176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实时互动场景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5532120"/>
            <a:ext cx="42976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直播互动、聊天室与多端接入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053328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8F5C29"/>
                </a:solidFill>
                <a:latin typeface="Arial Unicode MS"/>
                <a:ea typeface="Arial Unicode MS"/>
                <a:cs typeface="Arial Unicode MS"/>
              </a:rPr>
              <a:t>选型需结合客户已有账号体系、数据边界、消息审计、部署方式与合规评审；供应商可按项目实际情况组合。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用户分层与召回运营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1874519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691640"/>
            <a:ext cx="1874519" cy="109728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新用户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423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欢迎、首课、风险提示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1691640"/>
            <a:ext cx="1874519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53512" y="1691640"/>
            <a:ext cx="1874519" cy="109728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0116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学习用户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23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续学提醒、作业、训练营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1691640"/>
            <a:ext cx="1874519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21224" y="1691640"/>
            <a:ext cx="1874519" cy="109728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4" y="20116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活跃圈友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76672" y="2423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话题、直播、专家互动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88936" y="1691640"/>
            <a:ext cx="1874519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88936" y="1691640"/>
            <a:ext cx="1874519" cy="109728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20116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会员用户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383" y="2423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专属圈子、策略会、客服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691640"/>
            <a:ext cx="1874519" cy="12618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56648" y="1691640"/>
            <a:ext cx="1874519" cy="109728"/>
          </a:xfrm>
          <a:prstGeom prst="roundRect">
            <a:avLst/>
          </a:prstGeom>
          <a:solidFill>
            <a:srgbClr val="7B9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93808" y="201168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沉默用户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12096" y="242316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内容召回、权益到期、活动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7033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标签来源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70332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学习进度 / 圈子行为 / 直播预约 / 会员状态 / 消息点击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4340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运营动作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343400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C53AE"/>
                </a:solidFill>
                <a:latin typeface="Arial Unicode MS"/>
                <a:ea typeface="Arial Unicode MS"/>
                <a:cs typeface="Arial Unicode MS"/>
              </a:rPr>
              <a:t>内容推荐 → 圈子互动 → Push / IM 触达 → 服务转化 → 复购召回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532120"/>
            <a:ext cx="8961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从“群发所有人”升级为“对的人，在合适的时机，收到合适的内容”。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内容、直播、圈子和会员联动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2240280" cy="1051560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67712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课程 / 资讯 / 研报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37744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011680"/>
            <a:ext cx="2240280" cy="1051560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267712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直播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65176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预约 / 互动 / 回放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237744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2011680"/>
            <a:ext cx="2240280" cy="1051560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79" y="2267712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圈子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265176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讨论 / 问答 / 关系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37744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999" y="2011680"/>
            <a:ext cx="2240280" cy="1051560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999" y="2267712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会员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999" y="2651760"/>
            <a:ext cx="2240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权益 / 工具 / 服务</a:t>
            </a:r>
          </a:p>
        </p:txBody>
      </p:sp>
      <p:pic>
        <p:nvPicPr>
          <p:cNvPr id="23" name="Picture 22" descr="03-course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1097280" cy="2296632"/>
          </a:xfrm>
          <a:prstGeom prst="rect">
            <a:avLst/>
          </a:prstGeom>
        </p:spPr>
      </p:pic>
      <p:pic>
        <p:nvPicPr>
          <p:cNvPr id="24" name="Picture 23" descr="04-course-p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4160520"/>
            <a:ext cx="1097280" cy="2296632"/>
          </a:xfrm>
          <a:prstGeom prst="rect">
            <a:avLst/>
          </a:prstGeom>
        </p:spPr>
      </p:pic>
      <p:pic>
        <p:nvPicPr>
          <p:cNvPr id="25" name="Picture 24" descr="08-mar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4160520"/>
            <a:ext cx="1097280" cy="2296632"/>
          </a:xfrm>
          <a:prstGeom prst="rect">
            <a:avLst/>
          </a:prstGeom>
        </p:spPr>
      </p:pic>
      <p:pic>
        <p:nvPicPr>
          <p:cNvPr id="26" name="Picture 25" descr="09-pro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4160520"/>
            <a:ext cx="1097280" cy="229663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635240" y="46634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Demo 示意：学习、圈子、消息与会员在同一产品内形成连续服务。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AI 助手：接入客户 Agent，或定制金融服务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9844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把客户已经拥有的内容、知识库和服务流程，转成 App 内可用的服务入口。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01952"/>
            <a:ext cx="4800600" cy="1353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901952"/>
            <a:ext cx="4800600" cy="118872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76272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接入客户现有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6032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复用客户知识库、Agent 编排与权限体系；App 提供品牌化入口、用户身份和服务上下文。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1901952"/>
            <a:ext cx="4800600" cy="13533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79" y="1901952"/>
            <a:ext cx="4800600" cy="118872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2176272"/>
            <a:ext cx="4160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定制金融服务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2560320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围绕课程、直播回放、圈子内容、FAQ 和服务 SOP 定制内容检索、学习辅助与服务分流能力。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22191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Demo 中的服务体验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51960"/>
            <a:ext cx="301752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0120" y="4480560"/>
            <a:ext cx="329184" cy="329184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35607" y="4434840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内容检索与总结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91947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定位课程、直播、圈子和已授权知识内容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251960"/>
            <a:ext cx="301752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89120" y="4480560"/>
            <a:ext cx="329184" cy="329184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4607" y="4434840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课程与直播辅助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91947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梳理重点、关联资料、继续学习与任务引导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4251960"/>
            <a:ext cx="3017520" cy="105156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18119" y="4480560"/>
            <a:ext cx="329184" cy="329184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8" y="4434840"/>
            <a:ext cx="2057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服务引导与人工转接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19" y="4919472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按客户 SOP 分流至客服、顾问或企微服务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79008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8F5C29"/>
                </a:solidFill>
                <a:latin typeface="Arial Unicode MS"/>
                <a:ea typeface="Arial Unicode MS"/>
                <a:cs typeface="Arial Unicode MS"/>
              </a:rPr>
              <a:t>AI 用于信息整理、学习辅助与服务引导；不构成投资建议或收益承诺。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品牌、后台与合规能力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4846320" cy="8961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7552" y="1545336"/>
            <a:ext cx="128016" cy="457200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1508760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品牌能力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508760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Logo、主题色、首页 Banner、Tab 和页面风格可定制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13432"/>
            <a:ext cx="4846320" cy="8961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7552" y="2532888"/>
            <a:ext cx="128016" cy="457200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2496312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后台能力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49631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内容、课程、圈子、直播、消息和用户标签统一运营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00984"/>
            <a:ext cx="4846320" cy="8961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7552" y="3520440"/>
            <a:ext cx="128016" cy="457200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483864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定制开发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48386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根据客户业务流程，提供页面、接口、数据和运营能力的定制开发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88536"/>
            <a:ext cx="4846320" cy="89611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" y="4507992"/>
            <a:ext cx="128016" cy="457200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471416"/>
            <a:ext cx="128016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合规能力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47141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隐私协议、风险提示、执业信息、权限和内容审核可配置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417320"/>
            <a:ext cx="4160520" cy="4114800"/>
          </a:xfrm>
          <a:prstGeom prst="roundRect">
            <a:avLst/>
          </a:prstGeom>
          <a:solidFill>
            <a:srgbClr val="07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95160" y="1828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可配置的品牌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60604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7AA4B"/>
                </a:solidFill>
                <a:latin typeface="Arial Unicode MS"/>
                <a:ea typeface="Arial Unicode MS"/>
                <a:cs typeface="Arial Unicode MS"/>
              </a:rPr>
              <a:t>品牌配置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60604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4C4E0"/>
                </a:solidFill>
                <a:latin typeface="Arial Unicode MS"/>
                <a:ea typeface="Arial Unicode MS"/>
                <a:cs typeface="Arial Unicode MS"/>
              </a:rPr>
              <a:t>内容与模块配置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017520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47472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多端发布 / H5 与原生组合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977639"/>
            <a:ext cx="274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443484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D7AA4B"/>
                </a:solidFill>
                <a:latin typeface="Arial Unicode MS"/>
                <a:ea typeface="Arial Unicode MS"/>
                <a:cs typeface="Arial Unicode MS"/>
              </a:rPr>
              <a:t>合规、数据与运营可控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532120"/>
            <a:ext cx="484632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66928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展示主题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5669280"/>
            <a:ext cx="2148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深海蓝  ·  暖金棕  ·  青绿科技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60520" y="5623560"/>
            <a:ext cx="1143000" cy="274320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2816" y="5678424"/>
            <a:ext cx="987552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关怀版（大字）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ntent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99A3B2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金融行业自主私域 App 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4980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合规展示、信息安全与部分私有化部署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把合规要求做成产品能力，把数据边界做成部署选项。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2560320" cy="9875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1874519"/>
            <a:ext cx="73152" cy="987552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39112"/>
            <a:ext cx="2057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合规组件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5000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R3/C3 适当性文案、风险提示、执业信息、隐私协议与 SDK 披露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1874519"/>
            <a:ext cx="2560320" cy="9875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49039" y="1874519"/>
            <a:ext cx="73152" cy="987552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2039112"/>
            <a:ext cx="2057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安全控制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35000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传输与存储加密、最小权限、租户隔离、敏感操作审计留痕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108960"/>
            <a:ext cx="2560320" cy="9875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108960"/>
            <a:ext cx="73152" cy="987552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73552"/>
            <a:ext cx="2057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数据边界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844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用户、业务数据和审计日志可按客户安全域部署与管理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3108960"/>
            <a:ext cx="2560320" cy="98755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0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749039" y="3108960"/>
            <a:ext cx="73152" cy="987552"/>
          </a:xfrm>
          <a:prstGeom prst="roundRect">
            <a:avLst/>
          </a:prstGeom>
          <a:solidFill>
            <a:srgbClr val="BE4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77639" y="3273552"/>
            <a:ext cx="205740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部署方式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3584448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8748B"/>
                </a:solidFill>
                <a:latin typeface="Arial Unicode MS"/>
                <a:ea typeface="Arial Unicode MS"/>
                <a:cs typeface="Arial Unicode MS"/>
              </a:rPr>
              <a:t>支持部分私有化部署；按客户安全边界组合部署，不等同于全量私有化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1691640"/>
            <a:ext cx="3886200" cy="4160520"/>
          </a:xfrm>
          <a:prstGeom prst="roundRect">
            <a:avLst/>
          </a:prstGeom>
          <a:solidFill>
            <a:srgbClr val="07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201168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按安全边界组合部署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2606040"/>
            <a:ext cx="2788920" cy="658368"/>
          </a:xfrm>
          <a:prstGeom prst="roundRect">
            <a:avLst/>
          </a:prstGeom>
          <a:solidFill>
            <a:srgbClr val="1B42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71231" y="278892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客户侧安全域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71231" y="3054096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BED3F0"/>
                </a:solidFill>
                <a:latin typeface="Arial Unicode MS"/>
                <a:ea typeface="Arial Unicode MS"/>
                <a:cs typeface="Arial Unicode MS"/>
              </a:rPr>
              <a:t>用户 / 业务数据 / 审计日志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3456432"/>
            <a:ext cx="228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D7AA4B"/>
                </a:solidFill>
                <a:latin typeface="Arial Unicode MS"/>
                <a:ea typeface="Arial Unicode MS"/>
                <a:cs typeface="Arial Unicode MS"/>
              </a:rPr>
              <a:t>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3858768"/>
            <a:ext cx="2788920" cy="658368"/>
          </a:xfrm>
          <a:prstGeom prst="roundRect">
            <a:avLst/>
          </a:prstGeom>
          <a:solidFill>
            <a:srgbClr val="1E74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71231" y="40416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平台侧可选能力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1" y="4306824"/>
            <a:ext cx="23774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C3EBE2"/>
                </a:solidFill>
                <a:latin typeface="Arial Unicode MS"/>
                <a:ea typeface="Arial Unicode MS"/>
                <a:cs typeface="Arial Unicode MS"/>
              </a:rPr>
              <a:t>内容运营 / 消息 / 直播 / 版本服务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507492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BED3F0"/>
                </a:solidFill>
                <a:latin typeface="Arial Unicode MS"/>
                <a:ea typeface="Arial Unicode MS"/>
                <a:cs typeface="Arial Unicode MS"/>
              </a:rPr>
              <a:t>部署组合需结合客户主体、数据分类分级与法务/安全评审确认。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1967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B8C9E5"/>
                </a:solidFill>
                <a:latin typeface="Arial Unicode MS"/>
                <a:ea typeface="Arial Unicode MS"/>
                <a:cs typeface="Arial Unicode MS"/>
              </a:rPr>
              <a:t>小鹅通·金融BU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实施路径与预期业务结果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601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DDAF0"/>
                </a:solidFill>
                <a:latin typeface="Arial Unicode MS"/>
                <a:ea typeface="Arial Unicode MS"/>
                <a:cs typeface="Arial Unicode MS"/>
              </a:rPr>
              <a:t>平台负责获客，自有 App 负责沉淀；平台负责分发，自有圈子负责经营。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331720"/>
            <a:ext cx="3063240" cy="1417320"/>
          </a:xfrm>
          <a:prstGeom prst="roundRect">
            <a:avLst/>
          </a:prstGeom>
          <a:solidFill>
            <a:srgbClr val="1C53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57860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阶段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88036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品牌与基础阵地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7355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首页 / 学习 / 我的 / 登录 / 合规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331720"/>
            <a:ext cx="3063240" cy="1417320"/>
          </a:xfrm>
          <a:prstGeom prst="roundRect">
            <a:avLst/>
          </a:prstGeom>
          <a:solidFill>
            <a:srgbClr val="D7A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257860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阶段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88036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私域运营能力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327355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071B43"/>
                </a:solidFill>
                <a:latin typeface="Arial Unicode MS"/>
                <a:ea typeface="Arial Unicode MS"/>
                <a:cs typeface="Arial Unicode MS"/>
              </a:rPr>
              <a:t>圈子 / 消息 / Push / IM / 直播预约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331720"/>
            <a:ext cx="3063240" cy="1417320"/>
          </a:xfrm>
          <a:prstGeom prst="roundRect">
            <a:avLst/>
          </a:prstGeom>
          <a:solidFill>
            <a:srgbClr val="269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257860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阶段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88036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服务与定制开发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273552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投研 / 会员 / 标签 / 召回 / 定制需求开发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7200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7AA4B"/>
                </a:solidFill>
                <a:latin typeface="Arial Unicode MS"/>
                <a:ea typeface="Arial Unicode MS"/>
                <a:cs typeface="Arial Unicode MS"/>
              </a:rPr>
              <a:t>预期结果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5720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降低单一平台依赖 · 稳定核心用户触达 · 沉淀内容与关系资产 · 支撑长期会员与投顾服务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金融客户需要保留一个稳定、可持续经营的核心用户阵地。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