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pic>
        <p:nvPicPr>
          <p:cNvPr id="4" name="Picture 3" descr="cover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8229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6400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金融行业自主私域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App 产品方案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7355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面向金融客户的内容服务、私域运营与品牌化阵地建设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0749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圈子运营  ·  消息触达  ·  投教学习  ·  直播服务  ·  会员承接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080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B0C6E3"/>
                </a:solidFill>
                <a:latin typeface="Arial Unicode MS"/>
                <a:ea typeface="Arial Unicode MS"/>
                <a:cs typeface="Arial Unicode MS"/>
              </a:rPr>
              <a:t>产品方案稿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D2E2FA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金融客户当前的增长，仍高度依赖外部平台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588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平台带来流量、内容分发和交易入口，但用户关系并不天然归客户所有。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233172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短视频 / 直播 / 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148840"/>
            <a:ext cx="233172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内容推荐与平台流量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79" y="2148840"/>
            <a:ext cx="2331720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转化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/ 会员 / 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3999" y="2148840"/>
            <a:ext cx="233172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群聊 / 私聊 / 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690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平台可以带来用户，但客户需要自己的用户经营阵地。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核心问题不是有没有流量，而是用户关系能否持续沉淀。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平台限制带来的经营风险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触达风险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群发、私聊、外链和营销内容存在规则约束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金融直播、投顾和收益相关内容审核更严格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用户标签、圈子互动和客户归属难以统一沉淀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连续性风险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账号、店铺或直播间异常会导致用户失联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1600200"/>
            <a:ext cx="3017520" cy="406908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19659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平台规则变化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63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运营动作受限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703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160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用户关系不稳定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5780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风险不是没有流量，而是流量无法沉淀。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平台限制如何影响用户、内容和收入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15468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找不到、触达不到、无法持续学习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600200"/>
            <a:ext cx="315468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直播回放、课程资料和观点难沉淀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600200"/>
            <a:ext cx="315468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转化链路中断，复购和召回成本上升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经营结果：获客依赖平台，服务却无法持续跟进。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平台分发效率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773168"/>
            <a:ext cx="2651760" cy="2926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自有沉淀能力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773168"/>
            <a:ext cx="1005840" cy="2926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需要补上“关系经营”这一层。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为什么需要建设自主 App 阵地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pic>
        <p:nvPicPr>
          <p:cNvPr id="8" name="Picture 7" descr="02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08760"/>
            <a:ext cx="2148840" cy="44975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977639" y="136245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32588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稳定触达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58191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Push、站内消息和消息中心形成自有触达链路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414015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3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3347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圈子、评论、问答和学习记录成为长期资产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3465576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342900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服务承载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68503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课程、直播、投研、会员和订单统一进入品牌阵地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4517136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448055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合规可控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73659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品牌、内容、权限和风险提示由客户统一管理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596128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不是替代平台，而是承接核心用户与核心服务。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金融行业竞品 App 的产品路线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竞品普遍从“内容获客”走向“工具 + 服务 + 社群”的复合经营。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137160" cy="111556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投教内容型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客户类型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课程体系 + 行情 + 社群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874519"/>
            <a:ext cx="137160" cy="111556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投顾服务型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客户类型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 + 指标 + 会员服务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383279"/>
            <a:ext cx="137160" cy="111556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数据工具型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6977D"/>
                </a:solidFill>
                <a:latin typeface="Arial Unicode MS"/>
                <a:ea typeface="Arial Unicode MS"/>
                <a:cs typeface="Arial Unicode MS"/>
              </a:rPr>
              <a:t>客户类型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+ 选股 + 决策工具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59" y="3383279"/>
            <a:ext cx="137160" cy="111556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79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/ 社区型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E4E5B"/>
                </a:solidFill>
                <a:latin typeface="Arial Unicode MS"/>
                <a:ea typeface="Arial Unicode MS"/>
                <a:cs typeface="Arial Unicode MS"/>
              </a:rPr>
              <a:t>客户类型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79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AI 助手 + 讲师社区 + 订阅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共同趋势：内容是入口，圈子和消息是留存，会员与工具是服务承接。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的整体产品架构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719072"/>
            <a:ext cx="109728" cy="356616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7556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55648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· 直播 · 资讯 · 研报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41448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60320"/>
            <a:ext cx="109728" cy="356616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596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 · 话题 · 评论 · 问答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82696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401568"/>
            <a:ext cx="109728" cy="356616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4381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438144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· 投顾 · 会员 · 订单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23944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242816"/>
            <a:ext cx="109728" cy="356616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2793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27939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 · IM · 标签 · 召回 · 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7830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用户进入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286000"/>
            <a:ext cx="2651760" cy="566928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24597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内容吸引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3108960"/>
            <a:ext cx="2651760" cy="5669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圈子建立关系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31920"/>
            <a:ext cx="2651760" cy="5669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0565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消息持续触达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754880"/>
            <a:ext cx="2651760" cy="5669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49286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会员与服务转化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平台负责分发，自有 App 负责经营闭环。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圈子：金融私域的核心承载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pic>
        <p:nvPicPr>
          <p:cNvPr id="8" name="Picture 7" descr="05-circ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17320"/>
            <a:ext cx="2057400" cy="4306186"/>
          </a:xfrm>
          <a:prstGeom prst="rect">
            <a:avLst/>
          </a:prstGeom>
        </p:spPr>
      </p:pic>
      <p:pic>
        <p:nvPicPr>
          <p:cNvPr id="9" name="Picture 8" descr="06-circl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2" y="1417320"/>
            <a:ext cx="2057400" cy="43061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1371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圈子不是简单群聊，而是结构化、可持续运营的内容社区。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0253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65960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分层运营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219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官方圈子、课程圈子、讲师圈子、VIP 圈子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43784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807208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6323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动态、回放、研报、问答和精选内容长期留存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685032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48456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关系经营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044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圈主置顶、评论互动、话题讨论与成员活跃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526280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9704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服务连接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457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课程、直播、会员和投顾服务都能回流到圈子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圈子内的内容与用户互动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536192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观点、盘前策略、课程笔记、直播回放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intera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153619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79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点赞、评论、回复、收藏和关注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t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090672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主题运营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话题、活动、打卡、问答和精选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conver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5" y="3090672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79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圈友 → 学习用户 → 会员 / 投顾服务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圈子运营的目标：让用户有内容可看、有关系可互动、有服务可继续。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166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示意页面：圈子详情承载内容、成员关系与服务入口。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消息推送：持续触达用户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pic>
        <p:nvPicPr>
          <p:cNvPr id="8" name="Picture 7" descr="07-mess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417320"/>
            <a:ext cx="2103120" cy="440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6200" y="13258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四类消息，覆盖用户从进入到复购的生命周期。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99339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69080" y="2148840"/>
            <a:ext cx="256032" cy="25603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3969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13969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预约、开播、回放更新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281635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2971800"/>
            <a:ext cx="256032" cy="25603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96265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圈子动态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96265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新观点、被回复、精选内容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63931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69080" y="3794760"/>
            <a:ext cx="256032" cy="25603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78561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78561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新课、续学、资料和学习进度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46227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69080" y="4617720"/>
            <a:ext cx="256032" cy="25603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6085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运营召回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0857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沉默唤醒、会员到期、活动通知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55778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平台触达不稳定 → 自有 App 通过 Push + 站内消息 + IM + 用户标签建立可控链路。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IM：把一次触达，延伸为持续服务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61872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金融场景常见的 IM 不是单独聊天工具，而是连接客户、讲师、顾问和服务团队的业务入口。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10512"/>
            <a:ext cx="3063240" cy="1005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10512"/>
            <a:ext cx="306324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066543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客户与顾问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43230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一对一咨询、服务分流、会话留痕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10512"/>
            <a:ext cx="3063240" cy="1005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810512"/>
            <a:ext cx="3063240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066543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圈子与群聊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43230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课程群、会员群、直播讨论和主题群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810512"/>
            <a:ext cx="3063240" cy="1005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01000" y="1810512"/>
            <a:ext cx="306324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066543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43230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资料发送、回放提醒、问答与人工转接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101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可选供应商（示意）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0120" y="3776472"/>
            <a:ext cx="109728" cy="18288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3776472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腾讯云 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776472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国内生态与账号体系衔接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3776472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社交关系、群聊、消息能力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142231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0120" y="4215383"/>
            <a:ext cx="109728" cy="18288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4215383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网易云信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215383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音视频与 IM 组合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215383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直播互动、群聊、内容服务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581144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0120" y="4654296"/>
            <a:ext cx="109728" cy="18288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872" y="4654296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融云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54296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IM 能力组件化接入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654296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单聊、群聊、客服与会话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020056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60120" y="5093208"/>
            <a:ext cx="109728" cy="18288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61872" y="5093208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环信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4640" y="5093208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客服与运营场景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5093208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客户咨询、工单与消息触达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458968"/>
            <a:ext cx="10561320" cy="32918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60120" y="5532120"/>
            <a:ext cx="109728" cy="182880"/>
          </a:xfrm>
          <a:prstGeom prst="roundRect">
            <a:avLst/>
          </a:prstGeom>
          <a:solidFill>
            <a:srgbClr val="7B9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61872" y="5532120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声网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34640" y="5532120"/>
            <a:ext cx="2651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实时互动场景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5532120"/>
            <a:ext cx="42976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直播互动、聊天室与多端接入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053328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8F5C29"/>
                </a:solidFill>
                <a:latin typeface="Arial Unicode MS"/>
                <a:ea typeface="Arial Unicode MS"/>
                <a:cs typeface="Arial Unicode MS"/>
              </a:rPr>
              <a:t>选型需结合客户已有账号体系、数据边界、消息审计、部署方式与合规评审；供应商可按项目实际情况组合。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用户分层与召回运营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874519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新用户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欢迎、首课、风险提示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691640"/>
            <a:ext cx="1874519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学习用户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续学提醒、作业、训练营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21224" y="1691640"/>
            <a:ext cx="1874519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4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活跃圈友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话题、直播、专家互动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88936" y="1691640"/>
            <a:ext cx="1874519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会员用户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3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专属圈子、策略会、客服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56648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56648" y="1691640"/>
            <a:ext cx="1874519" cy="109728"/>
          </a:xfrm>
          <a:prstGeom prst="roundRect">
            <a:avLst/>
          </a:prstGeom>
          <a:solidFill>
            <a:srgbClr val="7B9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8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沉默用户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内容召回、权益到期、活动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7033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标签来源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70332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学习进度 / 圈子行为 / 直播预约 / 会员状态 / 消息点击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运营动作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343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内容推荐 → 圈子互动 → Push / IM 触达 → 服务转化 → 复购召回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从“群发所有人”升级为“对的人，在合适的时机，收到合适的内容”。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内容、直播、圈子和会员联动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240280" cy="105156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课程 / 资讯 / 研报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011680"/>
            <a:ext cx="2240280" cy="105156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预约 / 互动 / 回放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2011680"/>
            <a:ext cx="2240280" cy="105156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讨论 / 问答 /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3999" y="2011680"/>
            <a:ext cx="2240280" cy="105156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权益 / 工具 / 服务</a:t>
            </a:r>
          </a:p>
        </p:txBody>
      </p:sp>
      <p:pic>
        <p:nvPicPr>
          <p:cNvPr id="23" name="Picture 22" descr="03-cours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1097280" cy="2296632"/>
          </a:xfrm>
          <a:prstGeom prst="rect">
            <a:avLst/>
          </a:prstGeom>
        </p:spPr>
      </p:pic>
      <p:pic>
        <p:nvPicPr>
          <p:cNvPr id="24" name="Picture 23" descr="04-course-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4160520"/>
            <a:ext cx="1097280" cy="2296632"/>
          </a:xfrm>
          <a:prstGeom prst="rect">
            <a:avLst/>
          </a:prstGeom>
        </p:spPr>
      </p:pic>
      <p:pic>
        <p:nvPicPr>
          <p:cNvPr id="25" name="Picture 24" descr="08-mar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160520"/>
            <a:ext cx="1097280" cy="2296632"/>
          </a:xfrm>
          <a:prstGeom prst="rect">
            <a:avLst/>
          </a:prstGeom>
        </p:spPr>
      </p:pic>
      <p:pic>
        <p:nvPicPr>
          <p:cNvPr id="26" name="Picture 25" descr="09-prof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160520"/>
            <a:ext cx="1097280" cy="22966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240" y="4663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示意：学习、圈子、消息与会员在同一产品内形成连续服务。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助手：接入客户 Agent，或定制金融服务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把客户已经拥有的内容、知识库和服务流程，转成 App 内可用的服务入口。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01952"/>
            <a:ext cx="4800600" cy="13533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01952"/>
            <a:ext cx="4800600" cy="11887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762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接入客户现有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复用客户知识库、Agent 编排与权限体系；App 提供品牌化入口、用户身份和服务上下文。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901952"/>
            <a:ext cx="4800600" cy="13533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79" y="1901952"/>
            <a:ext cx="4800600" cy="11887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79" y="2176272"/>
            <a:ext cx="4160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定制金融服务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256032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围绕课程、直播回放、圈子内容、FAQ 和服务 SOP 定制内容检索、学习辅助与服务分流能力。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22191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中的服务体验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0120" y="4480560"/>
            <a:ext cx="329184" cy="329184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5607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内容检索与总结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定位课程、直播、圈子和已授权知识内容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9120" y="4480560"/>
            <a:ext cx="329184" cy="329184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7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课程与直播辅助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梳理重点、关联资料、继续学习与任务引导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4251960"/>
            <a:ext cx="3017520" cy="10515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818119" y="4480560"/>
            <a:ext cx="329184" cy="329184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8" y="44348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服务引导与人工转接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49194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按客户 SOP 分流至客服、顾问或企微服务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79008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5C29"/>
                </a:solidFill>
                <a:latin typeface="Arial Unicode MS"/>
                <a:ea typeface="Arial Unicode MS"/>
                <a:cs typeface="Arial Unicode MS"/>
              </a:rPr>
              <a:t>AI 用于信息整理、学习辅助与服务引导；不构成投资建议或收益承诺。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品牌、后台与合规能力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545336"/>
            <a:ext cx="128016" cy="45720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508760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5087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Logo、主题色、首页 Banner、Tab 和页面风格可定制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13432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32888"/>
            <a:ext cx="128016" cy="45720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496312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后台能力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49631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内容、课程、圈子、直播、消息和用户标签统一运营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00984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520440"/>
            <a:ext cx="128016" cy="45720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483864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483864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根据客户业务流程，提供页面、接口、数据和运营能力的定制开发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88536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507992"/>
            <a:ext cx="128016" cy="45720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447141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4714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隐私协议、风险提示、执业信息、权限和内容审核可配置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17320"/>
            <a:ext cx="4160520" cy="411480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可配置的品牌 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260604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品牌配置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0604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4C4E0"/>
                </a:solidFill>
                <a:latin typeface="Arial Unicode MS"/>
                <a:ea typeface="Arial Unicode MS"/>
                <a:cs typeface="Arial Unicode MS"/>
              </a:rPr>
              <a:t>内容与模块配置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01752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4747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多端发布 / H5 与原生组合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977639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4348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合规、数据与运营可控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32120"/>
            <a:ext cx="4846320" cy="502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66928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展示主题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669280"/>
            <a:ext cx="2148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深海蓝  ·  暖金棕  ·  青绿科技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60520" y="5623560"/>
            <a:ext cx="1143000" cy="274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2816" y="5678424"/>
            <a:ext cx="987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关怀版（大字）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合规展示、信息安全与部分私有化部署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把合规要求做成产品能力，把数据边界做成部署选项。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73152" cy="98755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R3/C3 适当性文案、风险提示、执业信息、隐私协议与 SDK 披露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9039" y="1874519"/>
            <a:ext cx="73152" cy="98755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安全控制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传输与存储加密、最小权限、租户隔离、敏感操作审计留痕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108960"/>
            <a:ext cx="73152" cy="98755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用户、业务数据和审计日志可按客户安全域部署与管理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39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49039" y="3108960"/>
            <a:ext cx="73152" cy="98755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部署方式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支持部分私有化部署；按客户安全边界组合部署，不等同于全量私有化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1691640"/>
            <a:ext cx="3886200" cy="416052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1168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按安全边界组合部署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2606040"/>
            <a:ext cx="2788920" cy="658368"/>
          </a:xfrm>
          <a:prstGeom prst="roundRect">
            <a:avLst/>
          </a:prstGeom>
          <a:solidFill>
            <a:srgbClr val="1B4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71231" y="27889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客户侧安全域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1" y="305409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用户 / 业务数据 / 审计日志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345643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3858768"/>
            <a:ext cx="2788920" cy="658368"/>
          </a:xfrm>
          <a:prstGeom prst="roundRect">
            <a:avLst/>
          </a:prstGeom>
          <a:solidFill>
            <a:srgbClr val="1E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40416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平台侧可选能力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43068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C3EBE2"/>
                </a:solidFill>
                <a:latin typeface="Arial Unicode MS"/>
                <a:ea typeface="Arial Unicode MS"/>
                <a:cs typeface="Arial Unicode MS"/>
              </a:rPr>
              <a:t>内容运营 / 消息 / 直播 / 版本服务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507492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部署组合需结合客户主体、数据分类分级与法务/安全评审确认。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实施路径与预期业务结果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CDDAF0"/>
                </a:solidFill>
                <a:latin typeface="Arial Unicode MS"/>
                <a:ea typeface="Arial Unicode MS"/>
                <a:cs typeface="Arial Unicode MS"/>
              </a:rPr>
              <a:t>平台负责获客，自有 App 负责沉淀；平台负责分发，自有圈子负责经营。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063240" cy="1417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品牌与基础阵地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首页 / 学习 / 我的 / 登录 /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063240" cy="141732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阶段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私域运营能力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 / 消息 / Push / IM / 直播预约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331720"/>
            <a:ext cx="3063240" cy="141732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服务与定制开发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投研 / 会员 / 标签 / 召回 / 定制需求开发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预期结果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5720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降低单一平台依赖 · 稳定核心用户触达 · 沉淀内容与关系资产 · 支撑长期会员与投顾服务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金融客户需要保留一个稳定、可持续经营的核心用户阵地。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